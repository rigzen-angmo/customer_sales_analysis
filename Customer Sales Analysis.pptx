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63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9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2A8A81-098F-4599-9D46-99491DF91836}" v="8" dt="2026-09-26T12:47:30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gzen Angmo" userId="2b9198061c094d75" providerId="LiveId" clId="{D92CFF7E-2457-436F-B270-42C9E64BB456}"/>
    <pc:docChg chg="custSel addSld modSld sldOrd">
      <pc:chgData name="Rigzen Angmo" userId="2b9198061c094d75" providerId="LiveId" clId="{D92CFF7E-2457-436F-B270-42C9E64BB456}" dt="2026-09-26T13:27:16.406" v="3634" actId="113"/>
      <pc:docMkLst>
        <pc:docMk/>
      </pc:docMkLst>
      <pc:sldChg chg="modSp mod ord">
        <pc:chgData name="Rigzen Angmo" userId="2b9198061c094d75" providerId="LiveId" clId="{D92CFF7E-2457-436F-B270-42C9E64BB456}" dt="2026-09-26T12:56:45.651" v="2577"/>
        <pc:sldMkLst>
          <pc:docMk/>
          <pc:sldMk cId="3365243682" sldId="256"/>
        </pc:sldMkLst>
        <pc:spChg chg="mod">
          <ac:chgData name="Rigzen Angmo" userId="2b9198061c094d75" providerId="LiveId" clId="{D92CFF7E-2457-436F-B270-42C9E64BB456}" dt="2026-09-26T12:38:18.230" v="2268" actId="113"/>
          <ac:spMkLst>
            <pc:docMk/>
            <pc:sldMk cId="3365243682" sldId="256"/>
            <ac:spMk id="3" creationId="{F822A9D4-6300-B9EC-BCA9-1AD0910AA92F}"/>
          </ac:spMkLst>
        </pc:spChg>
      </pc:sldChg>
      <pc:sldChg chg="modSp mod">
        <pc:chgData name="Rigzen Angmo" userId="2b9198061c094d75" providerId="LiveId" clId="{D92CFF7E-2457-436F-B270-42C9E64BB456}" dt="2026-09-26T13:06:58.422" v="2821" actId="113"/>
        <pc:sldMkLst>
          <pc:docMk/>
          <pc:sldMk cId="588560984" sldId="257"/>
        </pc:sldMkLst>
        <pc:spChg chg="mod">
          <ac:chgData name="Rigzen Angmo" userId="2b9198061c094d75" providerId="LiveId" clId="{D92CFF7E-2457-436F-B270-42C9E64BB456}" dt="2026-09-26T13:06:17.110" v="2819" actId="14100"/>
          <ac:spMkLst>
            <pc:docMk/>
            <pc:sldMk cId="588560984" sldId="257"/>
            <ac:spMk id="8" creationId="{F077C4C3-F68A-B639-76BF-8E9BAA498083}"/>
          </ac:spMkLst>
        </pc:spChg>
        <pc:spChg chg="mod">
          <ac:chgData name="Rigzen Angmo" userId="2b9198061c094d75" providerId="LiveId" clId="{D92CFF7E-2457-436F-B270-42C9E64BB456}" dt="2026-09-26T13:06:58.422" v="2821" actId="113"/>
          <ac:spMkLst>
            <pc:docMk/>
            <pc:sldMk cId="588560984" sldId="257"/>
            <ac:spMk id="10" creationId="{7F28E859-4E60-FBD5-66CE-101D5BE672D9}"/>
          </ac:spMkLst>
        </pc:spChg>
      </pc:sldChg>
      <pc:sldChg chg="modSp mod">
        <pc:chgData name="Rigzen Angmo" userId="2b9198061c094d75" providerId="LiveId" clId="{D92CFF7E-2457-436F-B270-42C9E64BB456}" dt="2026-09-26T12:39:45.285" v="2274" actId="113"/>
        <pc:sldMkLst>
          <pc:docMk/>
          <pc:sldMk cId="472365699" sldId="258"/>
        </pc:sldMkLst>
        <pc:spChg chg="mod">
          <ac:chgData name="Rigzen Angmo" userId="2b9198061c094d75" providerId="LiveId" clId="{D92CFF7E-2457-436F-B270-42C9E64BB456}" dt="2026-09-26T12:25:32.280" v="1918" actId="20577"/>
          <ac:spMkLst>
            <pc:docMk/>
            <pc:sldMk cId="472365699" sldId="258"/>
            <ac:spMk id="5" creationId="{B35C071E-8190-2C39-EDA7-84611371689D}"/>
          </ac:spMkLst>
        </pc:spChg>
        <pc:spChg chg="mod">
          <ac:chgData name="Rigzen Angmo" userId="2b9198061c094d75" providerId="LiveId" clId="{D92CFF7E-2457-436F-B270-42C9E64BB456}" dt="2026-09-26T12:39:06.376" v="2269" actId="113"/>
          <ac:spMkLst>
            <pc:docMk/>
            <pc:sldMk cId="472365699" sldId="258"/>
            <ac:spMk id="6" creationId="{E04BA1CC-FFD2-33DF-7078-C589908B723F}"/>
          </ac:spMkLst>
        </pc:spChg>
        <pc:spChg chg="mod">
          <ac:chgData name="Rigzen Angmo" userId="2b9198061c094d75" providerId="LiveId" clId="{D92CFF7E-2457-436F-B270-42C9E64BB456}" dt="2026-09-26T12:39:13.402" v="2270" actId="113"/>
          <ac:spMkLst>
            <pc:docMk/>
            <pc:sldMk cId="472365699" sldId="258"/>
            <ac:spMk id="8" creationId="{F3A26ADF-797D-BC94-DC39-5A923C5B1E79}"/>
          </ac:spMkLst>
        </pc:spChg>
        <pc:spChg chg="mod">
          <ac:chgData name="Rigzen Angmo" userId="2b9198061c094d75" providerId="LiveId" clId="{D92CFF7E-2457-436F-B270-42C9E64BB456}" dt="2026-09-26T12:39:19.128" v="2271" actId="113"/>
          <ac:spMkLst>
            <pc:docMk/>
            <pc:sldMk cId="472365699" sldId="258"/>
            <ac:spMk id="10" creationId="{07949FBC-B08F-3090-B41B-81B4CB864C87}"/>
          </ac:spMkLst>
        </pc:spChg>
        <pc:spChg chg="mod">
          <ac:chgData name="Rigzen Angmo" userId="2b9198061c094d75" providerId="LiveId" clId="{D92CFF7E-2457-436F-B270-42C9E64BB456}" dt="2026-09-26T12:39:24.794" v="2272" actId="113"/>
          <ac:spMkLst>
            <pc:docMk/>
            <pc:sldMk cId="472365699" sldId="258"/>
            <ac:spMk id="12" creationId="{E3F7B655-E0B5-88E1-FD1F-2532248123F9}"/>
          </ac:spMkLst>
        </pc:spChg>
        <pc:spChg chg="mod">
          <ac:chgData name="Rigzen Angmo" userId="2b9198061c094d75" providerId="LiveId" clId="{D92CFF7E-2457-436F-B270-42C9E64BB456}" dt="2026-09-26T12:39:45.285" v="2274" actId="113"/>
          <ac:spMkLst>
            <pc:docMk/>
            <pc:sldMk cId="472365699" sldId="258"/>
            <ac:spMk id="13" creationId="{458E4411-04AF-AFB1-2CA2-8CAB6C658F74}"/>
          </ac:spMkLst>
        </pc:spChg>
      </pc:sldChg>
      <pc:sldChg chg="addSp modSp mod">
        <pc:chgData name="Rigzen Angmo" userId="2b9198061c094d75" providerId="LiveId" clId="{D92CFF7E-2457-436F-B270-42C9E64BB456}" dt="2026-09-26T13:10:15.186" v="2823" actId="20577"/>
        <pc:sldMkLst>
          <pc:docMk/>
          <pc:sldMk cId="1957730667" sldId="259"/>
        </pc:sldMkLst>
        <pc:spChg chg="add mod">
          <ac:chgData name="Rigzen Angmo" userId="2b9198061c094d75" providerId="LiveId" clId="{D92CFF7E-2457-436F-B270-42C9E64BB456}" dt="2026-09-26T13:10:15.186" v="2823" actId="20577"/>
          <ac:spMkLst>
            <pc:docMk/>
            <pc:sldMk cId="1957730667" sldId="259"/>
            <ac:spMk id="2" creationId="{0361184F-7214-6E4D-F818-4E009BCB217C}"/>
          </ac:spMkLst>
        </pc:spChg>
        <pc:spChg chg="mod">
          <ac:chgData name="Rigzen Angmo" userId="2b9198061c094d75" providerId="LiveId" clId="{D92CFF7E-2457-436F-B270-42C9E64BB456}" dt="2026-09-26T11:18:23.657" v="11" actId="20577"/>
          <ac:spMkLst>
            <pc:docMk/>
            <pc:sldMk cId="1957730667" sldId="259"/>
            <ac:spMk id="5" creationId="{C80BFD5C-A51F-BEEB-A7B3-FD899978B0DB}"/>
          </ac:spMkLst>
        </pc:spChg>
      </pc:sldChg>
      <pc:sldChg chg="addSp delSp modSp new mod">
        <pc:chgData name="Rigzen Angmo" userId="2b9198061c094d75" providerId="LiveId" clId="{D92CFF7E-2457-436F-B270-42C9E64BB456}" dt="2026-09-26T13:22:09.360" v="3532" actId="113"/>
        <pc:sldMkLst>
          <pc:docMk/>
          <pc:sldMk cId="4215903513" sldId="260"/>
        </pc:sldMkLst>
        <pc:spChg chg="del">
          <ac:chgData name="Rigzen Angmo" userId="2b9198061c094d75" providerId="LiveId" clId="{D92CFF7E-2457-436F-B270-42C9E64BB456}" dt="2026-09-26T11:23:54.076" v="377" actId="21"/>
          <ac:spMkLst>
            <pc:docMk/>
            <pc:sldMk cId="4215903513" sldId="260"/>
            <ac:spMk id="2" creationId="{46F3B337-97F3-5D3E-D48F-FF89D828FBF7}"/>
          </ac:spMkLst>
        </pc:spChg>
        <pc:spChg chg="del">
          <ac:chgData name="Rigzen Angmo" userId="2b9198061c094d75" providerId="LiveId" clId="{D92CFF7E-2457-436F-B270-42C9E64BB456}" dt="2026-09-26T11:23:56.048" v="378" actId="478"/>
          <ac:spMkLst>
            <pc:docMk/>
            <pc:sldMk cId="4215903513" sldId="260"/>
            <ac:spMk id="3" creationId="{C5D280D4-7037-9F92-17F4-13E67D402473}"/>
          </ac:spMkLst>
        </pc:spChg>
        <pc:spChg chg="add mod">
          <ac:chgData name="Rigzen Angmo" userId="2b9198061c094d75" providerId="LiveId" clId="{D92CFF7E-2457-436F-B270-42C9E64BB456}" dt="2026-09-26T11:24:23.081" v="402" actId="20577"/>
          <ac:spMkLst>
            <pc:docMk/>
            <pc:sldMk cId="4215903513" sldId="260"/>
            <ac:spMk id="5" creationId="{4E87BAC3-8DD1-25F4-7665-197053A06095}"/>
          </ac:spMkLst>
        </pc:spChg>
        <pc:spChg chg="add mod">
          <ac:chgData name="Rigzen Angmo" userId="2b9198061c094d75" providerId="LiveId" clId="{D92CFF7E-2457-436F-B270-42C9E64BB456}" dt="2026-09-26T13:22:09.360" v="3532" actId="113"/>
          <ac:spMkLst>
            <pc:docMk/>
            <pc:sldMk cId="4215903513" sldId="260"/>
            <ac:spMk id="6" creationId="{7417E9E7-4B7B-4AC8-7E5C-122D24ED42D6}"/>
          </ac:spMkLst>
        </pc:spChg>
      </pc:sldChg>
      <pc:sldChg chg="addSp delSp modSp new mod">
        <pc:chgData name="Rigzen Angmo" userId="2b9198061c094d75" providerId="LiveId" clId="{D92CFF7E-2457-436F-B270-42C9E64BB456}" dt="2026-09-26T13:27:16.406" v="3634" actId="113"/>
        <pc:sldMkLst>
          <pc:docMk/>
          <pc:sldMk cId="2154957459" sldId="261"/>
        </pc:sldMkLst>
        <pc:spChg chg="del">
          <ac:chgData name="Rigzen Angmo" userId="2b9198061c094d75" providerId="LiveId" clId="{D92CFF7E-2457-436F-B270-42C9E64BB456}" dt="2026-09-26T11:31:32.780" v="732" actId="21"/>
          <ac:spMkLst>
            <pc:docMk/>
            <pc:sldMk cId="2154957459" sldId="261"/>
            <ac:spMk id="2" creationId="{DACB585D-FA36-5C79-5761-4E08DEA7A4F2}"/>
          </ac:spMkLst>
        </pc:spChg>
        <pc:spChg chg="del">
          <ac:chgData name="Rigzen Angmo" userId="2b9198061c094d75" providerId="LiveId" clId="{D92CFF7E-2457-436F-B270-42C9E64BB456}" dt="2026-09-26T11:31:35.723" v="733" actId="478"/>
          <ac:spMkLst>
            <pc:docMk/>
            <pc:sldMk cId="2154957459" sldId="261"/>
            <ac:spMk id="3" creationId="{03A1D008-C6E8-9756-B06B-A52E82094008}"/>
          </ac:spMkLst>
        </pc:spChg>
        <pc:spChg chg="add mod">
          <ac:chgData name="Rigzen Angmo" userId="2b9198061c094d75" providerId="LiveId" clId="{D92CFF7E-2457-436F-B270-42C9E64BB456}" dt="2026-09-26T11:31:54.699" v="744" actId="20577"/>
          <ac:spMkLst>
            <pc:docMk/>
            <pc:sldMk cId="2154957459" sldId="261"/>
            <ac:spMk id="5" creationId="{B49A47CE-FFC9-2866-C98D-8A3AC031AB08}"/>
          </ac:spMkLst>
        </pc:spChg>
        <pc:spChg chg="add mod">
          <ac:chgData name="Rigzen Angmo" userId="2b9198061c094d75" providerId="LiveId" clId="{D92CFF7E-2457-436F-B270-42C9E64BB456}" dt="2026-09-26T13:27:16.406" v="3634" actId="113"/>
          <ac:spMkLst>
            <pc:docMk/>
            <pc:sldMk cId="2154957459" sldId="261"/>
            <ac:spMk id="6" creationId="{D6A9101D-94DF-FD90-7E7A-0B1ED8355670}"/>
          </ac:spMkLst>
        </pc:spChg>
      </pc:sldChg>
      <pc:sldChg chg="addSp delSp modSp new mod">
        <pc:chgData name="Rigzen Angmo" userId="2b9198061c094d75" providerId="LiveId" clId="{D92CFF7E-2457-436F-B270-42C9E64BB456}" dt="2026-09-26T11:44:06.239" v="1194" actId="1076"/>
        <pc:sldMkLst>
          <pc:docMk/>
          <pc:sldMk cId="3626192036" sldId="262"/>
        </pc:sldMkLst>
        <pc:spChg chg="del">
          <ac:chgData name="Rigzen Angmo" userId="2b9198061c094d75" providerId="LiveId" clId="{D92CFF7E-2457-436F-B270-42C9E64BB456}" dt="2026-09-26T11:37:01.168" v="1113" actId="478"/>
          <ac:spMkLst>
            <pc:docMk/>
            <pc:sldMk cId="3626192036" sldId="262"/>
            <ac:spMk id="2" creationId="{F2F34EE4-B856-6DB3-EA44-D483C2497977}"/>
          </ac:spMkLst>
        </pc:spChg>
        <pc:spChg chg="del mod">
          <ac:chgData name="Rigzen Angmo" userId="2b9198061c094d75" providerId="LiveId" clId="{D92CFF7E-2457-436F-B270-42C9E64BB456}" dt="2026-09-26T11:37:08.810" v="1117" actId="478"/>
          <ac:spMkLst>
            <pc:docMk/>
            <pc:sldMk cId="3626192036" sldId="262"/>
            <ac:spMk id="3" creationId="{DEB80F55-18CF-3C21-3F1A-C652F614A222}"/>
          </ac:spMkLst>
        </pc:spChg>
        <pc:spChg chg="add mod">
          <ac:chgData name="Rigzen Angmo" userId="2b9198061c094d75" providerId="LiveId" clId="{D92CFF7E-2457-436F-B270-42C9E64BB456}" dt="2026-09-26T11:37:47.925" v="1151" actId="20577"/>
          <ac:spMkLst>
            <pc:docMk/>
            <pc:sldMk cId="3626192036" sldId="262"/>
            <ac:spMk id="5" creationId="{B1C4D7C4-3E24-B2E8-A615-65ABB9466ACF}"/>
          </ac:spMkLst>
        </pc:spChg>
        <pc:spChg chg="add mod">
          <ac:chgData name="Rigzen Angmo" userId="2b9198061c094d75" providerId="LiveId" clId="{D92CFF7E-2457-436F-B270-42C9E64BB456}" dt="2026-09-26T11:44:06.239" v="1194" actId="1076"/>
          <ac:spMkLst>
            <pc:docMk/>
            <pc:sldMk cId="3626192036" sldId="262"/>
            <ac:spMk id="10" creationId="{8B468D5B-CE6E-BC59-B262-2B7BB550D1B7}"/>
          </ac:spMkLst>
        </pc:spChg>
        <pc:picChg chg="add del mod">
          <ac:chgData name="Rigzen Angmo" userId="2b9198061c094d75" providerId="LiveId" clId="{D92CFF7E-2457-436F-B270-42C9E64BB456}" dt="2026-09-26T11:41:10.667" v="1153" actId="478"/>
          <ac:picMkLst>
            <pc:docMk/>
            <pc:sldMk cId="3626192036" sldId="262"/>
            <ac:picMk id="7" creationId="{44751553-BF42-064F-DB84-49F2716DD646}"/>
          </ac:picMkLst>
        </pc:picChg>
        <pc:picChg chg="add mod">
          <ac:chgData name="Rigzen Angmo" userId="2b9198061c094d75" providerId="LiveId" clId="{D92CFF7E-2457-436F-B270-42C9E64BB456}" dt="2026-09-26T11:43:57.895" v="1193" actId="1076"/>
          <ac:picMkLst>
            <pc:docMk/>
            <pc:sldMk cId="3626192036" sldId="262"/>
            <ac:picMk id="9" creationId="{16D7618E-13F0-92E7-D4C0-E5C566612FB4}"/>
          </ac:picMkLst>
        </pc:picChg>
      </pc:sldChg>
      <pc:sldChg chg="addSp delSp modSp new mod">
        <pc:chgData name="Rigzen Angmo" userId="2b9198061c094d75" providerId="LiveId" clId="{D92CFF7E-2457-436F-B270-42C9E64BB456}" dt="2026-09-26T12:32:01.477" v="2072" actId="20577"/>
        <pc:sldMkLst>
          <pc:docMk/>
          <pc:sldMk cId="3455432821" sldId="263"/>
        </pc:sldMkLst>
        <pc:spChg chg="del">
          <ac:chgData name="Rigzen Angmo" userId="2b9198061c094d75" providerId="LiveId" clId="{D92CFF7E-2457-436F-B270-42C9E64BB456}" dt="2026-09-26T12:07:57.748" v="1196" actId="478"/>
          <ac:spMkLst>
            <pc:docMk/>
            <pc:sldMk cId="3455432821" sldId="263"/>
            <ac:spMk id="2" creationId="{64191002-C7B1-121E-6759-CAA8BC93B0DA}"/>
          </ac:spMkLst>
        </pc:spChg>
        <pc:spChg chg="del">
          <ac:chgData name="Rigzen Angmo" userId="2b9198061c094d75" providerId="LiveId" clId="{D92CFF7E-2457-436F-B270-42C9E64BB456}" dt="2026-09-26T12:08:00.463" v="1197" actId="478"/>
          <ac:spMkLst>
            <pc:docMk/>
            <pc:sldMk cId="3455432821" sldId="263"/>
            <ac:spMk id="3" creationId="{F3C9891D-771A-403C-4504-6D86A5133F13}"/>
          </ac:spMkLst>
        </pc:spChg>
        <pc:spChg chg="add mod">
          <ac:chgData name="Rigzen Angmo" userId="2b9198061c094d75" providerId="LiveId" clId="{D92CFF7E-2457-436F-B270-42C9E64BB456}" dt="2026-09-26T12:08:15.922" v="1205" actId="20577"/>
          <ac:spMkLst>
            <pc:docMk/>
            <pc:sldMk cId="3455432821" sldId="263"/>
            <ac:spMk id="5" creationId="{7C7A0C42-DD6E-7254-C4E7-8944F574CE6F}"/>
          </ac:spMkLst>
        </pc:spChg>
        <pc:spChg chg="add mod">
          <ac:chgData name="Rigzen Angmo" userId="2b9198061c094d75" providerId="LiveId" clId="{D92CFF7E-2457-436F-B270-42C9E64BB456}" dt="2026-09-26T12:32:01.477" v="2072" actId="20577"/>
          <ac:spMkLst>
            <pc:docMk/>
            <pc:sldMk cId="3455432821" sldId="263"/>
            <ac:spMk id="6" creationId="{300159FF-7543-0CB4-B14E-73178E45EC71}"/>
          </ac:spMkLst>
        </pc:spChg>
      </pc:sldChg>
      <pc:sldChg chg="addSp delSp modSp new mod">
        <pc:chgData name="Rigzen Angmo" userId="2b9198061c094d75" providerId="LiveId" clId="{D92CFF7E-2457-436F-B270-42C9E64BB456}" dt="2026-09-26T13:23:55.279" v="3543" actId="20577"/>
        <pc:sldMkLst>
          <pc:docMk/>
          <pc:sldMk cId="3718817509" sldId="264"/>
        </pc:sldMkLst>
        <pc:spChg chg="del">
          <ac:chgData name="Rigzen Angmo" userId="2b9198061c094d75" providerId="LiveId" clId="{D92CFF7E-2457-436F-B270-42C9E64BB456}" dt="2026-09-26T12:45:57.623" v="2288" actId="478"/>
          <ac:spMkLst>
            <pc:docMk/>
            <pc:sldMk cId="3718817509" sldId="264"/>
            <ac:spMk id="2" creationId="{7F231D57-F895-77A5-9F43-9970BFFD6F71}"/>
          </ac:spMkLst>
        </pc:spChg>
        <pc:spChg chg="del">
          <ac:chgData name="Rigzen Angmo" userId="2b9198061c094d75" providerId="LiveId" clId="{D92CFF7E-2457-436F-B270-42C9E64BB456}" dt="2026-09-26T12:46:00.750" v="2289" actId="478"/>
          <ac:spMkLst>
            <pc:docMk/>
            <pc:sldMk cId="3718817509" sldId="264"/>
            <ac:spMk id="3" creationId="{3A5AD0DE-1762-6871-13EF-2DE363B802DB}"/>
          </ac:spMkLst>
        </pc:spChg>
        <pc:spChg chg="add mod">
          <ac:chgData name="Rigzen Angmo" userId="2b9198061c094d75" providerId="LiveId" clId="{D92CFF7E-2457-436F-B270-42C9E64BB456}" dt="2026-09-26T12:47:15.111" v="2307" actId="20577"/>
          <ac:spMkLst>
            <pc:docMk/>
            <pc:sldMk cId="3718817509" sldId="264"/>
            <ac:spMk id="5" creationId="{7ADEE6DE-6666-F29D-8F3D-77E75E968768}"/>
          </ac:spMkLst>
        </pc:spChg>
        <pc:spChg chg="add del mod">
          <ac:chgData name="Rigzen Angmo" userId="2b9198061c094d75" providerId="LiveId" clId="{D92CFF7E-2457-436F-B270-42C9E64BB456}" dt="2026-09-26T12:47:38.300" v="2309" actId="478"/>
          <ac:spMkLst>
            <pc:docMk/>
            <pc:sldMk cId="3718817509" sldId="264"/>
            <ac:spMk id="6" creationId="{E12152A1-9B82-8AC4-520F-6FC64D5AD128}"/>
          </ac:spMkLst>
        </pc:spChg>
        <pc:spChg chg="add mod">
          <ac:chgData name="Rigzen Angmo" userId="2b9198061c094d75" providerId="LiveId" clId="{D92CFF7E-2457-436F-B270-42C9E64BB456}" dt="2026-09-26T13:23:55.279" v="3543" actId="20577"/>
          <ac:spMkLst>
            <pc:docMk/>
            <pc:sldMk cId="3718817509" sldId="264"/>
            <ac:spMk id="7" creationId="{FDA03F34-623C-E62F-8FF0-9296508A34A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4EC2B-FB20-AB4A-FDD1-F8EDC9230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1F4AC-B90A-CB77-398A-AAA125B1D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32E87-D6F0-F210-CBA0-42E122E8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EBD4-9676-4419-930E-3FB32CB536B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6948F-ED53-549E-B587-FBC6E6DB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ECCAC-1AFB-6F1F-B97C-CDF02D26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3D5B-840E-4581-8D16-32B2769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67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869E0-21B3-7433-A9D2-FEB376069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85322-9035-2E40-B23D-334ED4F04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3EECC-D5F1-40D7-4883-60ABE92D6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EBD4-9676-4419-930E-3FB32CB536B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B63F9-87FA-8507-9E39-F13F38DD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23D08-3406-2EAC-F0E5-9090900E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3D5B-840E-4581-8D16-32B2769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24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1342-320C-1AA9-0B32-3E0FC95F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0CD4E-B87B-5AFA-CB45-F6A374BFD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622B4-F4CB-6322-067E-4931ADF6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EBD4-9676-4419-930E-3FB32CB536B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FEAF5-5887-1E37-609D-EC4D08DA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ACD87-AC65-9F04-947E-A557D8FE3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3D5B-840E-4581-8D16-32B2769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47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4231B-827E-55D1-AD90-53838C792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F1662-D92A-93DC-BE62-11EF053F7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B9EB2-5A2D-7956-E715-5ED5E2D1F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83528-E9CB-D6A3-339C-05D5FD82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EBD4-9676-4419-930E-3FB32CB536B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79937-8061-26E1-1FAA-9C614C85B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EADF0-36DE-2EE4-ACCA-2ED1DFCD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3D5B-840E-4581-8D16-32B2769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1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8A37B-7455-7C59-BF79-8FA6EC33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A3815-CC0F-29FA-2F05-705D25C91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044B3-B8F6-DA71-EF4F-2DA03C30A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24027F-DE19-E807-F5A3-5044B31D2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89FC34-5AEE-5F2E-FA18-795A05807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2AF16-EB58-437C-EE32-2F0EA8C4E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EBD4-9676-4419-930E-3FB32CB536B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D1BB7-AFDB-18B3-BC48-F8349B9D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64C6D-6FDA-E70E-C929-A33844FF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3D5B-840E-4581-8D16-32B2769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23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C78F-726F-0F90-0CC1-B6FE8106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A06B46-7F94-8936-CA4F-8C785BB65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EBD4-9676-4419-930E-3FB32CB536B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56980-3C04-DC35-FCB5-2A2DC4E8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99872-D394-47ED-F882-4D0D752E3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3D5B-840E-4581-8D16-32B2769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30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B3A36-E565-9254-91E2-7263C531D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EBD4-9676-4419-930E-3FB32CB536B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54C149-F89C-DF04-055D-9F5201DE6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7015F-6A3E-BF64-F2E4-D1B2435B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3D5B-840E-4581-8D16-32B2769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422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8312-1444-9F0E-9E27-086EC4C5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1BF7B-08BF-DDBE-4B70-65E7AA95E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24A44-EEE6-C59A-D907-F47764203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A3F3F-FB7A-E30F-3D73-036E8CCCF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EBD4-9676-4419-930E-3FB32CB536B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8DC2B-605A-6DE4-39A2-5EE05F0F4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54A5E-C783-C649-D56A-75F07BB08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3D5B-840E-4581-8D16-32B2769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94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1E53-55F2-D9C4-1C02-861245C63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0BC703-039E-3651-B98E-84033F1CE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8B510-2035-F8FA-6EC9-19A0D20A0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CB636-E972-98E2-F937-6FA669FD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EBD4-9676-4419-930E-3FB32CB536B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65AE0-0A1A-B5BD-63CF-EBFDD2A97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BEEAC-87CB-FC46-1B22-FF632E5C2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3D5B-840E-4581-8D16-32B2769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659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0C5E-D394-337C-FDE6-A1462EEE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3E006-04C4-9B0B-B9E3-D607AF8FD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82043-8CE2-F03D-DA13-DCB7630A9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EBD4-9676-4419-930E-3FB32CB536B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49445-D8E8-C51A-E9E1-0D6A2DA1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8BB27-5CCE-B913-B1D4-A6981D45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3D5B-840E-4581-8D16-32B2769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96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6E8F62-11A2-FE11-DAB9-ADBE4CF43E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72876-CC68-CA97-F94D-CE66DB406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8F1FD-7F60-0B1E-B5B1-351FD208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EBD4-9676-4419-930E-3FB32CB536B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C496A-E94E-E09C-540B-0A3BCCF2D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A59C-D75F-FDBB-6407-83C59459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3D5B-840E-4581-8D16-32B2769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550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69AD2-D2BE-F71A-E263-C7FCE1ACA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2CD86-7E6F-7541-7F37-7E3617BC1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59C23-BDBA-A788-0F67-E0E7B4917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6EBD4-9676-4419-930E-3FB32CB536B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316D9-F45E-D090-7D98-417160BFA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0FEE5-3989-A23A-FCB2-C21FE79B7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03D5B-840E-4581-8D16-32B276986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30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DEE6DE-6666-F29D-8F3D-77E75E9687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39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b="1" dirty="0">
              <a:latin typeface="Baskerville Old Face" panose="02020602080505020303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A03F34-623C-E62F-8FF0-9296508A34A1}"/>
              </a:ext>
            </a:extLst>
          </p:cNvPr>
          <p:cNvSpPr/>
          <p:nvPr/>
        </p:nvSpPr>
        <p:spPr>
          <a:xfrm>
            <a:off x="1133856" y="946404"/>
            <a:ext cx="10012680" cy="4965192"/>
          </a:xfrm>
          <a:prstGeom prst="roundRect">
            <a:avLst>
              <a:gd name="adj" fmla="val 598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Customer Sales Analysis</a:t>
            </a:r>
          </a:p>
          <a:p>
            <a:pPr algn="ctr"/>
            <a:endParaRPr lang="en-US" sz="4000" dirty="0">
              <a:latin typeface="Baskerville Old Face" panose="02020602080505020303" pitchFamily="18" charset="0"/>
            </a:endParaRPr>
          </a:p>
          <a:p>
            <a:pPr algn="ctr"/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Baskerville Old Face" panose="02020602080505020303" pitchFamily="18" charset="0"/>
              </a:rPr>
              <a:t>Power BI Internship Project</a:t>
            </a:r>
          </a:p>
          <a:p>
            <a:pPr algn="ctr"/>
            <a:endParaRPr lang="en-US" sz="4000" dirty="0">
              <a:solidFill>
                <a:schemeClr val="accent1">
                  <a:lumMod val="75000"/>
                </a:schemeClr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Submitted by: Rigzen Angmo</a:t>
            </a:r>
          </a:p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Team Id: PTID-CDA-SEP-26-11200-A – CDA</a:t>
            </a:r>
          </a:p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Project Id: PRDA-05: Customer Data Analysis</a:t>
            </a:r>
          </a:p>
        </p:txBody>
      </p:sp>
    </p:spTree>
    <p:extLst>
      <p:ext uri="{BB962C8B-B14F-4D97-AF65-F5344CB8AC3E}">
        <p14:creationId xmlns:p14="http://schemas.microsoft.com/office/powerpoint/2010/main" val="371881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22A9D4-6300-B9EC-BCA9-1AD0910AA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1555" y="2026062"/>
            <a:ext cx="9144000" cy="2222088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Analyzed Customer </a:t>
            </a:r>
            <a:r>
              <a:rPr lang="en-US" sz="1800" b="1" dirty="0"/>
              <a:t>purchasing and sales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The main goal was to </a:t>
            </a:r>
            <a:r>
              <a:rPr lang="en-US" sz="1800" b="1" dirty="0"/>
              <a:t>understand customer buying patterns and sales performance.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Compared customers by </a:t>
            </a:r>
            <a:r>
              <a:rPr lang="en-US" sz="1800" b="1" dirty="0"/>
              <a:t>category, gender, age group, and payment method</a:t>
            </a:r>
            <a:r>
              <a:rPr lang="en-US" sz="1800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Created an Interactive dashboard to show the main results clearly.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Used </a:t>
            </a:r>
            <a:r>
              <a:rPr lang="en-US" sz="1800" b="1" dirty="0"/>
              <a:t>Power Query </a:t>
            </a:r>
            <a:r>
              <a:rPr lang="en-US" sz="1800" dirty="0"/>
              <a:t>for data cleaning and transformation.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Used </a:t>
            </a:r>
            <a:r>
              <a:rPr lang="en-US" sz="1800" b="1" dirty="0"/>
              <a:t>DAX and Power BI </a:t>
            </a:r>
            <a:r>
              <a:rPr lang="en-US" sz="1800" dirty="0"/>
              <a:t>visuals to create an interactive dashboard.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04DF28-9707-970E-89AA-7E155E524A4D}"/>
              </a:ext>
            </a:extLst>
          </p:cNvPr>
          <p:cNvSpPr/>
          <p:nvPr/>
        </p:nvSpPr>
        <p:spPr>
          <a:xfrm>
            <a:off x="0" y="0"/>
            <a:ext cx="12192000" cy="832104"/>
          </a:xfrm>
          <a:prstGeom prst="rect">
            <a:avLst/>
          </a:prstGeom>
          <a:solidFill>
            <a:srgbClr val="0639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Baskerville Old Face" panose="02020602080505020303" pitchFamily="18" charset="0"/>
              </a:rPr>
              <a:t>Project Overview</a:t>
            </a:r>
            <a:endParaRPr lang="en-IN" sz="40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24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7A0C42-DD6E-7254-C4E7-8944F574CE6F}"/>
              </a:ext>
            </a:extLst>
          </p:cNvPr>
          <p:cNvSpPr/>
          <p:nvPr/>
        </p:nvSpPr>
        <p:spPr>
          <a:xfrm>
            <a:off x="0" y="0"/>
            <a:ext cx="12192000" cy="832104"/>
          </a:xfrm>
          <a:prstGeom prst="rect">
            <a:avLst/>
          </a:prstGeom>
          <a:solidFill>
            <a:srgbClr val="0639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Baskerville Old Face" panose="02020602080505020303" pitchFamily="18" charset="0"/>
              </a:rPr>
              <a:t>Dataset Overview</a:t>
            </a:r>
            <a:endParaRPr lang="en-IN" sz="4000" b="1" dirty="0">
              <a:latin typeface="Baskerville Old Face" panose="020206020805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0159FF-7543-0CB4-B14E-73178E45EC71}"/>
              </a:ext>
            </a:extLst>
          </p:cNvPr>
          <p:cNvSpPr txBox="1"/>
          <p:nvPr/>
        </p:nvSpPr>
        <p:spPr>
          <a:xfrm>
            <a:off x="778383" y="2274838"/>
            <a:ext cx="990829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dataset contains customer </a:t>
            </a:r>
            <a:r>
              <a:rPr lang="en-US" b="1" dirty="0"/>
              <a:t>shopping information from 10 shopping malls in Istanbul.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 covers the period from </a:t>
            </a:r>
            <a:r>
              <a:rPr lang="en-US" b="1" dirty="0"/>
              <a:t>2021 to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contains approximately </a:t>
            </a:r>
            <a:r>
              <a:rPr lang="en-US" b="1" dirty="0"/>
              <a:t>99,000 records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dataset includes customers from </a:t>
            </a:r>
            <a:r>
              <a:rPr lang="en-US" b="1" dirty="0"/>
              <a:t>different age groups and gender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contains information about </a:t>
            </a:r>
            <a:r>
              <a:rPr lang="en-US" b="1" dirty="0"/>
              <a:t>customer IDs, invoice numbers, age, gender, product category,</a:t>
            </a:r>
          </a:p>
          <a:p>
            <a:r>
              <a:rPr lang="en-US" b="1" dirty="0"/>
              <a:t>      quantity, price, payment method, invoice date, and shopping mall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dataset was used to analyze </a:t>
            </a:r>
            <a:r>
              <a:rPr lang="en-US" b="1" dirty="0"/>
              <a:t>customer buying patterns and sales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43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FDFEC9-6C68-93F6-DAE4-B8933FC7518F}"/>
              </a:ext>
            </a:extLst>
          </p:cNvPr>
          <p:cNvSpPr/>
          <p:nvPr/>
        </p:nvSpPr>
        <p:spPr>
          <a:xfrm>
            <a:off x="0" y="0"/>
            <a:ext cx="12192000" cy="832104"/>
          </a:xfrm>
          <a:prstGeom prst="rect">
            <a:avLst/>
          </a:prstGeom>
          <a:solidFill>
            <a:srgbClr val="0639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Baskerville Old Face" panose="02020602080505020303" pitchFamily="18" charset="0"/>
              </a:rPr>
              <a:t>Data Preparation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77C4C3-F68A-B639-76BF-8E9BAA498083}"/>
              </a:ext>
            </a:extLst>
          </p:cNvPr>
          <p:cNvSpPr/>
          <p:nvPr/>
        </p:nvSpPr>
        <p:spPr>
          <a:xfrm>
            <a:off x="1014984" y="1389888"/>
            <a:ext cx="3849624" cy="4590288"/>
          </a:xfrm>
          <a:prstGeom prst="roundRect">
            <a:avLst>
              <a:gd name="adj" fmla="val 8559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Baskerville Old Face" panose="02020602080505020303" pitchFamily="18" charset="0"/>
              </a:rPr>
              <a:t>Data Used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Customer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Gender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Quantity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Payment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Invoice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Invoice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Shopping Mall</a:t>
            </a:r>
          </a:p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28E859-4E60-FBD5-66CE-101D5BE672D9}"/>
              </a:ext>
            </a:extLst>
          </p:cNvPr>
          <p:cNvSpPr/>
          <p:nvPr/>
        </p:nvSpPr>
        <p:spPr>
          <a:xfrm>
            <a:off x="6483096" y="1389888"/>
            <a:ext cx="4221480" cy="4590288"/>
          </a:xfrm>
          <a:prstGeom prst="roundRect">
            <a:avLst>
              <a:gd name="adj" fmla="val 8559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Baskerville Old Face" panose="02020602080505020303" pitchFamily="18" charset="0"/>
              </a:rPr>
              <a:t>What I did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Cleaned and checked the data using </a:t>
            </a:r>
            <a:r>
              <a:rPr lang="en-US" b="1" dirty="0">
                <a:solidFill>
                  <a:schemeClr val="tx1"/>
                </a:solidFill>
              </a:rPr>
              <a:t>Power Query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Corrected the </a:t>
            </a:r>
            <a:r>
              <a:rPr lang="en-US" b="1" dirty="0">
                <a:solidFill>
                  <a:schemeClr val="tx1"/>
                </a:solidFill>
              </a:rPr>
              <a:t>data types</a:t>
            </a:r>
            <a:r>
              <a:rPr lang="en-US" dirty="0">
                <a:solidFill>
                  <a:schemeClr val="tx1"/>
                </a:solidFill>
              </a:rPr>
              <a:t>, including the invoice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Created </a:t>
            </a:r>
            <a:r>
              <a:rPr lang="en-US" b="1" dirty="0">
                <a:solidFill>
                  <a:schemeClr val="tx1"/>
                </a:solidFill>
              </a:rPr>
              <a:t>age groups </a:t>
            </a:r>
            <a:r>
              <a:rPr lang="en-US" dirty="0">
                <a:solidFill>
                  <a:schemeClr val="tx1"/>
                </a:solidFill>
              </a:rPr>
              <a:t>from individual ages using SWITCH(TRUE())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Created an </a:t>
            </a:r>
            <a:r>
              <a:rPr lang="en-US" b="1" dirty="0">
                <a:solidFill>
                  <a:schemeClr val="tx1"/>
                </a:solidFill>
              </a:rPr>
              <a:t>Age Category Sort </a:t>
            </a:r>
            <a:r>
              <a:rPr lang="en-US" dirty="0">
                <a:solidFill>
                  <a:schemeClr val="tx1"/>
                </a:solidFill>
              </a:rPr>
              <a:t>column to display the correct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Created </a:t>
            </a:r>
            <a:r>
              <a:rPr lang="en-US" b="1" dirty="0">
                <a:solidFill>
                  <a:schemeClr val="tx1"/>
                </a:solidFill>
              </a:rPr>
              <a:t>DAX calculations </a:t>
            </a:r>
            <a:r>
              <a:rPr lang="en-US" dirty="0">
                <a:solidFill>
                  <a:schemeClr val="tx1"/>
                </a:solidFill>
              </a:rPr>
              <a:t>for Revenue, Total Revenue, Total Customers, and Total Transactions.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56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35C071E-8190-2C39-EDA7-84611371689D}"/>
              </a:ext>
            </a:extLst>
          </p:cNvPr>
          <p:cNvSpPr/>
          <p:nvPr/>
        </p:nvSpPr>
        <p:spPr>
          <a:xfrm>
            <a:off x="0" y="0"/>
            <a:ext cx="12192000" cy="832104"/>
          </a:xfrm>
          <a:prstGeom prst="rect">
            <a:avLst/>
          </a:prstGeom>
          <a:solidFill>
            <a:srgbClr val="0639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Baskerville Old Face" panose="02020602080505020303" pitchFamily="18" charset="0"/>
              </a:rPr>
              <a:t>DAX Calculations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4BA1CC-FFD2-33DF-7078-C589908B723F}"/>
              </a:ext>
            </a:extLst>
          </p:cNvPr>
          <p:cNvSpPr/>
          <p:nvPr/>
        </p:nvSpPr>
        <p:spPr>
          <a:xfrm>
            <a:off x="1070228" y="1473518"/>
            <a:ext cx="4092321" cy="1636776"/>
          </a:xfrm>
          <a:prstGeom prst="roundRect">
            <a:avLst>
              <a:gd name="adj" fmla="val 9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06396E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2400" dirty="0">
                <a:solidFill>
                  <a:srgbClr val="06396E"/>
                </a:solidFill>
                <a:latin typeface="Baskerville Old Face" panose="02020602080505020303" pitchFamily="18" charset="0"/>
              </a:rPr>
              <a:t>Total Revenue - Measure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SUMX</a:t>
            </a:r>
            <a:r>
              <a:rPr lang="en-US" dirty="0">
                <a:solidFill>
                  <a:schemeClr val="tx1"/>
                </a:solidFill>
              </a:rPr>
              <a:t> calculates quantity * price for each row and then adds all the results.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A26ADF-797D-BC94-DC39-5A923C5B1E79}"/>
              </a:ext>
            </a:extLst>
          </p:cNvPr>
          <p:cNvSpPr/>
          <p:nvPr/>
        </p:nvSpPr>
        <p:spPr>
          <a:xfrm>
            <a:off x="6228587" y="1473518"/>
            <a:ext cx="3905631" cy="1636776"/>
          </a:xfrm>
          <a:prstGeom prst="roundRect">
            <a:avLst>
              <a:gd name="adj" fmla="val 9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06396E"/>
              </a:solidFill>
              <a:latin typeface="Baskerville Old Face" panose="02020602080505020303" pitchFamily="18" charset="0"/>
            </a:endParaRPr>
          </a:p>
          <a:p>
            <a:pPr algn="ctr"/>
            <a:endParaRPr lang="en-US" sz="2400" dirty="0">
              <a:solidFill>
                <a:srgbClr val="06396E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US" sz="2400" dirty="0">
                <a:solidFill>
                  <a:srgbClr val="06396E"/>
                </a:solidFill>
                <a:latin typeface="Baskerville Old Face" panose="02020602080505020303" pitchFamily="18" charset="0"/>
              </a:rPr>
              <a:t>Total Transactions - Measure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COUNTROWS</a:t>
            </a:r>
            <a:r>
              <a:rPr lang="en-US" dirty="0">
                <a:solidFill>
                  <a:schemeClr val="tx1"/>
                </a:solidFill>
              </a:rPr>
              <a:t> counts the number of rows/transactions in the dataset.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949FBC-B08F-3090-B41B-81B4CB864C87}"/>
              </a:ext>
            </a:extLst>
          </p:cNvPr>
          <p:cNvSpPr/>
          <p:nvPr/>
        </p:nvSpPr>
        <p:spPr>
          <a:xfrm>
            <a:off x="2040443" y="3429000"/>
            <a:ext cx="4161282" cy="1636776"/>
          </a:xfrm>
          <a:prstGeom prst="roundRect">
            <a:avLst>
              <a:gd name="adj" fmla="val 9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6396E"/>
                </a:solidFill>
                <a:latin typeface="Baskerville Old Face" panose="02020602080505020303" pitchFamily="18" charset="0"/>
              </a:rPr>
              <a:t>Total Customers - Measure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DISTINCTCOUNT</a:t>
            </a:r>
            <a:r>
              <a:rPr lang="en-US" dirty="0">
                <a:solidFill>
                  <a:schemeClr val="tx1"/>
                </a:solidFill>
              </a:rPr>
              <a:t> counts each customer only once.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F7B655-E0B5-88E1-FD1F-2532248123F9}"/>
              </a:ext>
            </a:extLst>
          </p:cNvPr>
          <p:cNvSpPr/>
          <p:nvPr/>
        </p:nvSpPr>
        <p:spPr>
          <a:xfrm>
            <a:off x="7066787" y="3380613"/>
            <a:ext cx="4669536" cy="1733550"/>
          </a:xfrm>
          <a:prstGeom prst="roundRect">
            <a:avLst>
              <a:gd name="adj" fmla="val 9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6396E"/>
                </a:solidFill>
                <a:latin typeface="Baskerville Old Face" panose="02020602080505020303" pitchFamily="18" charset="0"/>
              </a:rPr>
              <a:t>Age Category - Calculated Columns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SWITCH(TRUE()) </a:t>
            </a:r>
            <a:r>
              <a:rPr lang="en-US" dirty="0">
                <a:solidFill>
                  <a:schemeClr val="tx1"/>
                </a:solidFill>
              </a:rPr>
              <a:t>groups individual ages into categories such as 18-25, 26-35, etc.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8E4411-04AF-AFB1-2CA2-8CAB6C658F74}"/>
              </a:ext>
            </a:extLst>
          </p:cNvPr>
          <p:cNvSpPr txBox="1"/>
          <p:nvPr/>
        </p:nvSpPr>
        <p:spPr>
          <a:xfrm>
            <a:off x="174117" y="5658803"/>
            <a:ext cx="10771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These </a:t>
            </a:r>
            <a:r>
              <a:rPr lang="en-US" b="1" dirty="0"/>
              <a:t>DAX</a:t>
            </a:r>
            <a:r>
              <a:rPr lang="en-US" dirty="0"/>
              <a:t> calculations  were used to </a:t>
            </a:r>
            <a:r>
              <a:rPr lang="en-US" b="1" dirty="0"/>
              <a:t>calculate the key performance indicators and categories </a:t>
            </a:r>
            <a:r>
              <a:rPr lang="en-US" dirty="0"/>
              <a:t>displayed in the dashboard.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365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0BFD5C-A51F-BEEB-A7B3-FD899978B0DB}"/>
              </a:ext>
            </a:extLst>
          </p:cNvPr>
          <p:cNvSpPr/>
          <p:nvPr/>
        </p:nvSpPr>
        <p:spPr>
          <a:xfrm>
            <a:off x="0" y="0"/>
            <a:ext cx="12192000" cy="832104"/>
          </a:xfrm>
          <a:prstGeom prst="rect">
            <a:avLst/>
          </a:prstGeom>
          <a:solidFill>
            <a:srgbClr val="0639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Baskerville Old Face" panose="02020602080505020303" pitchFamily="18" charset="0"/>
              </a:rPr>
              <a:t>Key Insights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61184F-7214-6E4D-F818-4E009BCB217C}"/>
              </a:ext>
            </a:extLst>
          </p:cNvPr>
          <p:cNvSpPr txBox="1"/>
          <p:nvPr/>
        </p:nvSpPr>
        <p:spPr>
          <a:xfrm>
            <a:off x="923544" y="2386584"/>
            <a:ext cx="78445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Clothing</a:t>
            </a:r>
            <a:r>
              <a:rPr lang="en-US" dirty="0"/>
              <a:t> had the highest number of purchases at approximately </a:t>
            </a:r>
            <a:r>
              <a:rPr lang="en-US" b="1" dirty="0"/>
              <a:t>34.5K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Female customers generated higher revenue </a:t>
            </a:r>
            <a:r>
              <a:rPr lang="en-US" dirty="0"/>
              <a:t>than male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34-45</a:t>
            </a:r>
            <a:r>
              <a:rPr lang="en-US" dirty="0"/>
              <a:t> age group generated the </a:t>
            </a:r>
            <a:r>
              <a:rPr lang="en-US" b="1" dirty="0"/>
              <a:t>highest revenue </a:t>
            </a:r>
            <a:r>
              <a:rPr lang="en-US" dirty="0"/>
              <a:t>at approximately </a:t>
            </a:r>
            <a:r>
              <a:rPr lang="en-US" b="1" dirty="0"/>
              <a:t>50M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Cash </a:t>
            </a:r>
            <a:r>
              <a:rPr lang="en-US" dirty="0"/>
              <a:t>is the most </a:t>
            </a:r>
            <a:r>
              <a:rPr lang="en-US" b="1" dirty="0"/>
              <a:t>commonly used </a:t>
            </a:r>
            <a:r>
              <a:rPr lang="en-US" dirty="0"/>
              <a:t>payment method at </a:t>
            </a:r>
            <a:r>
              <a:rPr lang="en-US" b="1" dirty="0"/>
              <a:t>44.60%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aged </a:t>
            </a:r>
            <a:r>
              <a:rPr lang="en-US" b="1" dirty="0"/>
              <a:t>26-65</a:t>
            </a:r>
            <a:r>
              <a:rPr lang="en-US" dirty="0"/>
              <a:t> show relatively </a:t>
            </a:r>
            <a:r>
              <a:rPr lang="en-US" b="1" dirty="0"/>
              <a:t>high shopping activity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73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87BAC3-8DD1-25F4-7665-197053A06095}"/>
              </a:ext>
            </a:extLst>
          </p:cNvPr>
          <p:cNvSpPr/>
          <p:nvPr/>
        </p:nvSpPr>
        <p:spPr>
          <a:xfrm>
            <a:off x="0" y="0"/>
            <a:ext cx="12192000" cy="832104"/>
          </a:xfrm>
          <a:prstGeom prst="rect">
            <a:avLst/>
          </a:prstGeom>
          <a:solidFill>
            <a:srgbClr val="0639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Baskerville Old Face" panose="02020602080505020303" pitchFamily="18" charset="0"/>
              </a:rPr>
              <a:t>Business Interpretation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7E9E7-4B7B-4AC8-7E5C-122D24ED42D6}"/>
              </a:ext>
            </a:extLst>
          </p:cNvPr>
          <p:cNvSpPr txBox="1"/>
          <p:nvPr/>
        </p:nvSpPr>
        <p:spPr>
          <a:xfrm>
            <a:off x="923544" y="2306288"/>
            <a:ext cx="992855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more on </a:t>
            </a:r>
            <a:r>
              <a:rPr lang="en-US" b="1" dirty="0"/>
              <a:t>Clothing</a:t>
            </a:r>
            <a:r>
              <a:rPr lang="en-US" dirty="0"/>
              <a:t>, as it has the highest number of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</a:t>
            </a:r>
            <a:r>
              <a:rPr lang="en-US" b="1" dirty="0"/>
              <a:t>female</a:t>
            </a:r>
            <a:r>
              <a:rPr lang="en-US" dirty="0"/>
              <a:t> customers with suitable offers and promotions because they contribute</a:t>
            </a:r>
          </a:p>
          <a:p>
            <a:r>
              <a:rPr lang="en-US" dirty="0"/>
              <a:t>      higher sales and quantity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on the </a:t>
            </a:r>
            <a:r>
              <a:rPr lang="en-US" b="1" dirty="0"/>
              <a:t>26-65 age groups </a:t>
            </a:r>
            <a:r>
              <a:rPr lang="en-US" dirty="0"/>
              <a:t>with targeted products and marketing campaigns because</a:t>
            </a:r>
          </a:p>
          <a:p>
            <a:r>
              <a:rPr lang="en-US" dirty="0"/>
              <a:t>      these groups show </a:t>
            </a:r>
            <a:r>
              <a:rPr lang="en-US" b="1" dirty="0"/>
              <a:t>higher shopping activity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Promote products to the </a:t>
            </a:r>
            <a:r>
              <a:rPr lang="en-US" b="1" dirty="0"/>
              <a:t>36-45 age group</a:t>
            </a:r>
            <a:r>
              <a:rPr lang="en-US" dirty="0"/>
              <a:t>, which generated the </a:t>
            </a:r>
            <a:r>
              <a:rPr lang="en-US" b="1" dirty="0"/>
              <a:t>highest revenue </a:t>
            </a:r>
            <a:r>
              <a:rPr lang="en-US" dirty="0"/>
              <a:t>in the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Continue supporting </a:t>
            </a:r>
            <a:r>
              <a:rPr lang="en-US" b="1" dirty="0"/>
              <a:t>cash payments </a:t>
            </a:r>
            <a:r>
              <a:rPr lang="en-US" dirty="0"/>
              <a:t>while also maintaining card payment options, since cash</a:t>
            </a:r>
          </a:p>
          <a:p>
            <a:r>
              <a:rPr lang="en-US" dirty="0"/>
              <a:t>      is the </a:t>
            </a:r>
            <a:r>
              <a:rPr lang="en-US" b="1" dirty="0"/>
              <a:t>most commonly used payment method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5903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9A47CE-FFC9-2866-C98D-8A3AC031AB08}"/>
              </a:ext>
            </a:extLst>
          </p:cNvPr>
          <p:cNvSpPr/>
          <p:nvPr/>
        </p:nvSpPr>
        <p:spPr>
          <a:xfrm>
            <a:off x="0" y="0"/>
            <a:ext cx="12192000" cy="832104"/>
          </a:xfrm>
          <a:prstGeom prst="rect">
            <a:avLst/>
          </a:prstGeom>
          <a:solidFill>
            <a:srgbClr val="0639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Baskerville Old Face" panose="02020602080505020303" pitchFamily="18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A9101D-94DF-FD90-7E7A-0B1ED8355670}"/>
              </a:ext>
            </a:extLst>
          </p:cNvPr>
          <p:cNvSpPr txBox="1"/>
          <p:nvPr/>
        </p:nvSpPr>
        <p:spPr>
          <a:xfrm>
            <a:off x="510627" y="1951672"/>
            <a:ext cx="103293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Customer Sales Analysis dashboard provides a clear view of</a:t>
            </a:r>
            <a:r>
              <a:rPr lang="en-US" b="1" dirty="0"/>
              <a:t> sales performance and customer</a:t>
            </a:r>
          </a:p>
          <a:p>
            <a:r>
              <a:rPr lang="en-US" b="1" dirty="0"/>
              <a:t>       purchasing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Category, age, gender and payment method </a:t>
            </a:r>
            <a:r>
              <a:rPr lang="en-US" dirty="0"/>
              <a:t>help customer purchasing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Power BI, Power Query, and DAX </a:t>
            </a:r>
            <a:r>
              <a:rPr lang="en-US" dirty="0"/>
              <a:t>were used to transform the raw data into meaningful insights.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analysis can help </a:t>
            </a:r>
            <a:r>
              <a:rPr lang="en-US" b="1" dirty="0"/>
              <a:t>businesses understand their customers </a:t>
            </a:r>
            <a:r>
              <a:rPr lang="en-US" dirty="0"/>
              <a:t>and</a:t>
            </a:r>
            <a:r>
              <a:rPr lang="en-US" b="1" dirty="0"/>
              <a:t> support data-driven</a:t>
            </a:r>
          </a:p>
          <a:p>
            <a:r>
              <a:rPr lang="en-US" b="1" dirty="0"/>
              <a:t>       decision-making.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54957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C4D7C4-3E24-B2E8-A615-65ABB9466ACF}"/>
              </a:ext>
            </a:extLst>
          </p:cNvPr>
          <p:cNvSpPr/>
          <p:nvPr/>
        </p:nvSpPr>
        <p:spPr>
          <a:xfrm>
            <a:off x="0" y="0"/>
            <a:ext cx="12192000" cy="832104"/>
          </a:xfrm>
          <a:prstGeom prst="rect">
            <a:avLst/>
          </a:prstGeom>
          <a:solidFill>
            <a:srgbClr val="0639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Baskerville Old Face" panose="02020602080505020303" pitchFamily="18" charset="0"/>
              </a:rPr>
              <a:t>Customer Sales Analysis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D7618E-13F0-92E7-D4C0-E5C566612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124" y="1622060"/>
            <a:ext cx="9445752" cy="4800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468D5B-CE6E-BC59-B262-2B7BB550D1B7}"/>
              </a:ext>
            </a:extLst>
          </p:cNvPr>
          <p:cNvSpPr txBox="1"/>
          <p:nvPr/>
        </p:nvSpPr>
        <p:spPr>
          <a:xfrm>
            <a:off x="1280160" y="1325880"/>
            <a:ext cx="291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Screenshots: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192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571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Arial Rounded MT Bold</vt:lpstr>
      <vt:lpstr>Baskerville Old Face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Rigzen Angmo</dc:creator>
  <cp:lastModifiedBy>Rigzen Angmo</cp:lastModifiedBy>
  <cp:revision>1</cp:revision>
  <dcterms:created xsi:type="dcterms:W3CDTF">2026-09-26T07:29:37Z</dcterms:created>
  <dcterms:modified xsi:type="dcterms:W3CDTF">2026-09-26T13:27:17Z</dcterms:modified>
</cp:coreProperties>
</file>